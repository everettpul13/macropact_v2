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Kumar One"/>
      <p:regular r:id="rId19"/>
    </p:embeddedFont>
    <p:embeddedFont>
      <p:font typeface="Lato"/>
      <p:regular r:id="rId20"/>
      <p:bold r:id="rId21"/>
      <p:italic r:id="rId22"/>
      <p:boldItalic r:id="rId23"/>
    </p:embeddedFont>
    <p:embeddedFont>
      <p:font typeface="Bruno Ace SC"/>
      <p:regular r:id="rId24"/>
    </p:embeddedFont>
    <p:embeddedFont>
      <p:font typeface="DM Sans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BrunoAceSC-regular.fntdata"/><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Light-bold.fntdata"/><Relationship Id="rId25" Type="http://schemas.openxmlformats.org/officeDocument/2006/relationships/font" Target="fonts/DMSansLight-regular.fntdata"/><Relationship Id="rId28" Type="http://schemas.openxmlformats.org/officeDocument/2006/relationships/font" Target="fonts/DMSansLight-boldItalic.fntdata"/><Relationship Id="rId27" Type="http://schemas.openxmlformats.org/officeDocument/2006/relationships/font" Target="fonts/DMSans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KumarOne-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fec905edf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fec905edf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51622d55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51622d5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9c67055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9c67055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fec905edf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fec905edf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fec905edf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fec905edf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7ddf120c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7ddf120c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fec905edf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fec905edf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The hot glue actually worked better than the glow insert</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Took almost 1.5 weeks to fully complete </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Assembly was the most difficult part of this project</a:t>
            </a:r>
            <a:endParaRPr sz="1200">
              <a:solidFill>
                <a:schemeClr val="dk1"/>
              </a:solidFill>
              <a:latin typeface="Lato"/>
              <a:ea typeface="Lato"/>
              <a:cs typeface="Lato"/>
              <a:sym typeface="La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fec905edf_0_1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fec905edf_0_1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fec905edf_0_1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fec905edf_0_1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82" name="Shape 82"/>
        <p:cNvGrpSpPr/>
        <p:nvPr/>
      </p:nvGrpSpPr>
      <p:grpSpPr>
        <a:xfrm>
          <a:off x="0" y="0"/>
          <a:ext cx="0" cy="0"/>
          <a:chOff x="0" y="0"/>
          <a:chExt cx="0" cy="0"/>
        </a:xfrm>
      </p:grpSpPr>
      <p:sp>
        <p:nvSpPr>
          <p:cNvPr id="83" name="Google Shape;83;p13"/>
          <p:cNvSpPr/>
          <p:nvPr>
            <p:ph idx="2" type="pic"/>
          </p:nvPr>
        </p:nvSpPr>
        <p:spPr>
          <a:xfrm>
            <a:off x="4587725" y="-8750"/>
            <a:ext cx="4572000" cy="5152200"/>
          </a:xfrm>
          <a:prstGeom prst="rect">
            <a:avLst/>
          </a:prstGeom>
          <a:noFill/>
          <a:ln>
            <a:noFill/>
          </a:ln>
        </p:spPr>
      </p:sp>
      <p:sp>
        <p:nvSpPr>
          <p:cNvPr id="84" name="Google Shape;84;p13"/>
          <p:cNvSpPr txBox="1"/>
          <p:nvPr>
            <p:ph type="title"/>
          </p:nvPr>
        </p:nvSpPr>
        <p:spPr>
          <a:xfrm>
            <a:off x="361975" y="923525"/>
            <a:ext cx="3860100" cy="587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85" name="Google Shape;85;p13"/>
          <p:cNvSpPr txBox="1"/>
          <p:nvPr>
            <p:ph idx="1" type="subTitle"/>
          </p:nvPr>
        </p:nvSpPr>
        <p:spPr>
          <a:xfrm>
            <a:off x="361975" y="255533"/>
            <a:ext cx="3860100" cy="377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100"/>
              <a:buFont typeface="Newsreader"/>
              <a:buNone/>
              <a:defRPr>
                <a:solidFill>
                  <a:schemeClr val="dk1"/>
                </a:solidFill>
              </a:defRPr>
            </a:lvl2pPr>
            <a:lvl3pPr lvl="2">
              <a:spcBef>
                <a:spcPts val="0"/>
              </a:spcBef>
              <a:spcAft>
                <a:spcPts val="0"/>
              </a:spcAft>
              <a:buClr>
                <a:schemeClr val="dk1"/>
              </a:buClr>
              <a:buSzPts val="1100"/>
              <a:buFont typeface="Newsreader"/>
              <a:buNone/>
              <a:defRPr>
                <a:solidFill>
                  <a:schemeClr val="dk1"/>
                </a:solidFill>
              </a:defRPr>
            </a:lvl3pPr>
            <a:lvl4pPr lvl="3">
              <a:spcBef>
                <a:spcPts val="0"/>
              </a:spcBef>
              <a:spcAft>
                <a:spcPts val="0"/>
              </a:spcAft>
              <a:buClr>
                <a:schemeClr val="dk1"/>
              </a:buClr>
              <a:buSzPts val="1100"/>
              <a:buFont typeface="Newsreader"/>
              <a:buNone/>
              <a:defRPr>
                <a:solidFill>
                  <a:schemeClr val="dk1"/>
                </a:solidFill>
              </a:defRPr>
            </a:lvl4pPr>
            <a:lvl5pPr lvl="4">
              <a:spcBef>
                <a:spcPts val="0"/>
              </a:spcBef>
              <a:spcAft>
                <a:spcPts val="0"/>
              </a:spcAft>
              <a:buClr>
                <a:schemeClr val="dk1"/>
              </a:buClr>
              <a:buSzPts val="1100"/>
              <a:buFont typeface="Newsreader"/>
              <a:buNone/>
              <a:defRPr>
                <a:solidFill>
                  <a:schemeClr val="dk1"/>
                </a:solidFill>
              </a:defRPr>
            </a:lvl5pPr>
            <a:lvl6pPr lvl="5">
              <a:spcBef>
                <a:spcPts val="0"/>
              </a:spcBef>
              <a:spcAft>
                <a:spcPts val="0"/>
              </a:spcAft>
              <a:buClr>
                <a:schemeClr val="dk1"/>
              </a:buClr>
              <a:buSzPts val="1100"/>
              <a:buFont typeface="Newsreader"/>
              <a:buNone/>
              <a:defRPr>
                <a:solidFill>
                  <a:schemeClr val="dk1"/>
                </a:solidFill>
              </a:defRPr>
            </a:lvl6pPr>
            <a:lvl7pPr lvl="6">
              <a:spcBef>
                <a:spcPts val="0"/>
              </a:spcBef>
              <a:spcAft>
                <a:spcPts val="0"/>
              </a:spcAft>
              <a:buClr>
                <a:schemeClr val="dk1"/>
              </a:buClr>
              <a:buSzPts val="1100"/>
              <a:buFont typeface="Newsreader"/>
              <a:buNone/>
              <a:defRPr>
                <a:solidFill>
                  <a:schemeClr val="dk1"/>
                </a:solidFill>
              </a:defRPr>
            </a:lvl7pPr>
            <a:lvl8pPr lvl="7">
              <a:spcBef>
                <a:spcPts val="0"/>
              </a:spcBef>
              <a:spcAft>
                <a:spcPts val="0"/>
              </a:spcAft>
              <a:buClr>
                <a:schemeClr val="dk1"/>
              </a:buClr>
              <a:buSzPts val="1100"/>
              <a:buFont typeface="Newsreader"/>
              <a:buNone/>
              <a:defRPr>
                <a:solidFill>
                  <a:schemeClr val="dk1"/>
                </a:solidFill>
              </a:defRPr>
            </a:lvl8pPr>
            <a:lvl9pPr lvl="8">
              <a:spcBef>
                <a:spcPts val="0"/>
              </a:spcBef>
              <a:spcAft>
                <a:spcPts val="0"/>
              </a:spcAft>
              <a:buClr>
                <a:schemeClr val="dk1"/>
              </a:buClr>
              <a:buSzPts val="1100"/>
              <a:buFont typeface="Newsreader"/>
              <a:buNone/>
              <a:defRPr>
                <a:solidFill>
                  <a:schemeClr val="dk1"/>
                </a:solidFill>
              </a:defRPr>
            </a:lvl9pPr>
          </a:lstStyle>
          <a:p/>
        </p:txBody>
      </p:sp>
      <p:sp>
        <p:nvSpPr>
          <p:cNvPr id="86" name="Google Shape;86;p13"/>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87" name="Shape 87"/>
        <p:cNvGrpSpPr/>
        <p:nvPr/>
      </p:nvGrpSpPr>
      <p:grpSpPr>
        <a:xfrm>
          <a:off x="0" y="0"/>
          <a:ext cx="0" cy="0"/>
          <a:chOff x="0" y="0"/>
          <a:chExt cx="0" cy="0"/>
        </a:xfrm>
      </p:grpSpPr>
      <p:pic>
        <p:nvPicPr>
          <p:cNvPr descr="Side view of hands writing in a notebook at a cafe" id="88" name="Google Shape;88;p14"/>
          <p:cNvPicPr preferRelativeResize="0"/>
          <p:nvPr/>
        </p:nvPicPr>
        <p:blipFill rotWithShape="1">
          <a:blip r:embed="rId2">
            <a:alphaModFix/>
          </a:blip>
          <a:srcRect b="26447" l="9051" r="54351" t="12064"/>
          <a:stretch/>
        </p:blipFill>
        <p:spPr>
          <a:xfrm>
            <a:off x="1" y="-50"/>
            <a:ext cx="4572000" cy="5143501"/>
          </a:xfrm>
          <a:prstGeom prst="rect">
            <a:avLst/>
          </a:prstGeom>
          <a:noFill/>
          <a:ln>
            <a:noFill/>
          </a:ln>
        </p:spPr>
      </p:pic>
      <p:sp>
        <p:nvSpPr>
          <p:cNvPr id="89" name="Google Shape;89;p14"/>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14"/>
          <p:cNvGrpSpPr/>
          <p:nvPr/>
        </p:nvGrpSpPr>
        <p:grpSpPr>
          <a:xfrm>
            <a:off x="830392" y="1191256"/>
            <a:ext cx="745763" cy="45826"/>
            <a:chOff x="4580561" y="2589004"/>
            <a:chExt cx="1064464" cy="25200"/>
          </a:xfrm>
        </p:grpSpPr>
        <p:sp>
          <p:nvSpPr>
            <p:cNvPr id="91" name="Google Shape;91;p14"/>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14"/>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Clr>
                <a:srgbClr val="FFFFFF"/>
              </a:buClr>
              <a:buSzPts val="3000"/>
              <a:buNone/>
              <a:defRPr sz="3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94" name="Google Shape;94;p14"/>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FFFFF"/>
              </a:buClr>
              <a:buSzPts val="1600"/>
              <a:buNone/>
              <a:defRPr sz="1600">
                <a:solidFill>
                  <a:srgbClr val="FFFFFF"/>
                </a:solidFill>
              </a:defRPr>
            </a:lvl1pPr>
            <a:lvl2pPr lvl="1">
              <a:lnSpc>
                <a:spcPct val="100000"/>
              </a:lnSpc>
              <a:spcBef>
                <a:spcPts val="0"/>
              </a:spcBef>
              <a:spcAft>
                <a:spcPts val="0"/>
              </a:spcAft>
              <a:buClr>
                <a:srgbClr val="FFFFFF"/>
              </a:buClr>
              <a:buSzPts val="1600"/>
              <a:buNone/>
              <a:defRPr sz="1600">
                <a:solidFill>
                  <a:srgbClr val="FFFFFF"/>
                </a:solidFill>
              </a:defRPr>
            </a:lvl2pPr>
            <a:lvl3pPr lvl="2">
              <a:lnSpc>
                <a:spcPct val="100000"/>
              </a:lnSpc>
              <a:spcBef>
                <a:spcPts val="0"/>
              </a:spcBef>
              <a:spcAft>
                <a:spcPts val="0"/>
              </a:spcAft>
              <a:buClr>
                <a:srgbClr val="FFFFFF"/>
              </a:buClr>
              <a:buSzPts val="1600"/>
              <a:buNone/>
              <a:defRPr sz="1600">
                <a:solidFill>
                  <a:srgbClr val="FFFFFF"/>
                </a:solidFill>
              </a:defRPr>
            </a:lvl3pPr>
            <a:lvl4pPr lvl="3">
              <a:lnSpc>
                <a:spcPct val="100000"/>
              </a:lnSpc>
              <a:spcBef>
                <a:spcPts val="0"/>
              </a:spcBef>
              <a:spcAft>
                <a:spcPts val="0"/>
              </a:spcAft>
              <a:buClr>
                <a:srgbClr val="FFFFFF"/>
              </a:buClr>
              <a:buSzPts val="1600"/>
              <a:buNone/>
              <a:defRPr sz="1600">
                <a:solidFill>
                  <a:srgbClr val="FFFFFF"/>
                </a:solidFill>
              </a:defRPr>
            </a:lvl4pPr>
            <a:lvl5pPr lvl="4">
              <a:lnSpc>
                <a:spcPct val="100000"/>
              </a:lnSpc>
              <a:spcBef>
                <a:spcPts val="0"/>
              </a:spcBef>
              <a:spcAft>
                <a:spcPts val="0"/>
              </a:spcAft>
              <a:buClr>
                <a:srgbClr val="FFFFFF"/>
              </a:buClr>
              <a:buSzPts val="1600"/>
              <a:buNone/>
              <a:defRPr sz="1600">
                <a:solidFill>
                  <a:srgbClr val="FFFFFF"/>
                </a:solidFill>
              </a:defRPr>
            </a:lvl5pPr>
            <a:lvl6pPr lvl="5">
              <a:lnSpc>
                <a:spcPct val="100000"/>
              </a:lnSpc>
              <a:spcBef>
                <a:spcPts val="0"/>
              </a:spcBef>
              <a:spcAft>
                <a:spcPts val="0"/>
              </a:spcAft>
              <a:buClr>
                <a:srgbClr val="FFFFFF"/>
              </a:buClr>
              <a:buSzPts val="1600"/>
              <a:buNone/>
              <a:defRPr sz="1600">
                <a:solidFill>
                  <a:srgbClr val="FFFFFF"/>
                </a:solidFill>
              </a:defRPr>
            </a:lvl6pPr>
            <a:lvl7pPr lvl="6">
              <a:lnSpc>
                <a:spcPct val="100000"/>
              </a:lnSpc>
              <a:spcBef>
                <a:spcPts val="0"/>
              </a:spcBef>
              <a:spcAft>
                <a:spcPts val="0"/>
              </a:spcAft>
              <a:buClr>
                <a:srgbClr val="FFFFFF"/>
              </a:buClr>
              <a:buSzPts val="1600"/>
              <a:buNone/>
              <a:defRPr sz="1600">
                <a:solidFill>
                  <a:srgbClr val="FFFFFF"/>
                </a:solidFill>
              </a:defRPr>
            </a:lvl7pPr>
            <a:lvl8pPr lvl="7">
              <a:lnSpc>
                <a:spcPct val="100000"/>
              </a:lnSpc>
              <a:spcBef>
                <a:spcPts val="0"/>
              </a:spcBef>
              <a:spcAft>
                <a:spcPts val="0"/>
              </a:spcAft>
              <a:buClr>
                <a:srgbClr val="FFFFFF"/>
              </a:buClr>
              <a:buSzPts val="1600"/>
              <a:buNone/>
              <a:defRPr sz="1600">
                <a:solidFill>
                  <a:srgbClr val="FFFFFF"/>
                </a:solidFill>
              </a:defRPr>
            </a:lvl8pPr>
            <a:lvl9pPr lvl="8">
              <a:lnSpc>
                <a:spcPct val="100000"/>
              </a:lnSpc>
              <a:spcBef>
                <a:spcPts val="0"/>
              </a:spcBef>
              <a:spcAft>
                <a:spcPts val="0"/>
              </a:spcAft>
              <a:buClr>
                <a:srgbClr val="FFFFFF"/>
              </a:buClr>
              <a:buSzPts val="1600"/>
              <a:buNone/>
              <a:defRPr sz="1600">
                <a:solidFill>
                  <a:srgbClr val="FFFFFF"/>
                </a:solidFill>
              </a:defRPr>
            </a:lvl9pPr>
          </a:lstStyle>
          <a:p/>
        </p:txBody>
      </p:sp>
      <p:sp>
        <p:nvSpPr>
          <p:cNvPr id="95" name="Google Shape;95;p14"/>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6" name="Google Shape;96;p14"/>
          <p:cNvSpPr txBox="1"/>
          <p:nvPr>
            <p:ph idx="12" type="sldNum"/>
          </p:nvPr>
        </p:nvSpPr>
        <p:spPr>
          <a:xfrm>
            <a:off x="8536300" y="474985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97" name="Shape 97"/>
        <p:cNvGrpSpPr/>
        <p:nvPr/>
      </p:nvGrpSpPr>
      <p:grpSpPr>
        <a:xfrm>
          <a:off x="0" y="0"/>
          <a:ext cx="0" cy="0"/>
          <a:chOff x="0" y="0"/>
          <a:chExt cx="0" cy="0"/>
        </a:xfrm>
      </p:grpSpPr>
      <p:pic>
        <p:nvPicPr>
          <p:cNvPr id="98" name="Google Shape;98;p15"/>
          <p:cNvPicPr preferRelativeResize="0"/>
          <p:nvPr/>
        </p:nvPicPr>
        <p:blipFill rotWithShape="1">
          <a:blip r:embed="rId2">
            <a:alphaModFix/>
          </a:blip>
          <a:srcRect b="0" l="31883" r="25713" t="8097"/>
          <a:stretch/>
        </p:blipFill>
        <p:spPr>
          <a:xfrm>
            <a:off x="0" y="0"/>
            <a:ext cx="4575250" cy="5143500"/>
          </a:xfrm>
          <a:prstGeom prst="rect">
            <a:avLst/>
          </a:prstGeom>
          <a:noFill/>
          <a:ln>
            <a:noFill/>
          </a:ln>
        </p:spPr>
      </p:pic>
      <p:sp>
        <p:nvSpPr>
          <p:cNvPr id="99" name="Google Shape;99;p15"/>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 name="Google Shape;100;p15"/>
          <p:cNvGrpSpPr/>
          <p:nvPr/>
        </p:nvGrpSpPr>
        <p:grpSpPr>
          <a:xfrm>
            <a:off x="830392" y="1191256"/>
            <a:ext cx="745763" cy="45826"/>
            <a:chOff x="4580561" y="2589004"/>
            <a:chExt cx="1064464" cy="25200"/>
          </a:xfrm>
        </p:grpSpPr>
        <p:sp>
          <p:nvSpPr>
            <p:cNvPr id="101" name="Google Shape;101;p15"/>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5"/>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Clr>
                <a:srgbClr val="FFFFFF"/>
              </a:buClr>
              <a:buSzPts val="3000"/>
              <a:buNone/>
              <a:defRPr sz="3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04" name="Google Shape;104;p15"/>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FFFFF"/>
              </a:buClr>
              <a:buSzPts val="1600"/>
              <a:buNone/>
              <a:defRPr sz="1600">
                <a:solidFill>
                  <a:srgbClr val="FFFFFF"/>
                </a:solidFill>
              </a:defRPr>
            </a:lvl1pPr>
            <a:lvl2pPr lvl="1">
              <a:lnSpc>
                <a:spcPct val="100000"/>
              </a:lnSpc>
              <a:spcBef>
                <a:spcPts val="0"/>
              </a:spcBef>
              <a:spcAft>
                <a:spcPts val="0"/>
              </a:spcAft>
              <a:buClr>
                <a:srgbClr val="FFFFFF"/>
              </a:buClr>
              <a:buSzPts val="1600"/>
              <a:buNone/>
              <a:defRPr sz="1600">
                <a:solidFill>
                  <a:srgbClr val="FFFFFF"/>
                </a:solidFill>
              </a:defRPr>
            </a:lvl2pPr>
            <a:lvl3pPr lvl="2">
              <a:lnSpc>
                <a:spcPct val="100000"/>
              </a:lnSpc>
              <a:spcBef>
                <a:spcPts val="0"/>
              </a:spcBef>
              <a:spcAft>
                <a:spcPts val="0"/>
              </a:spcAft>
              <a:buClr>
                <a:srgbClr val="FFFFFF"/>
              </a:buClr>
              <a:buSzPts val="1600"/>
              <a:buNone/>
              <a:defRPr sz="1600">
                <a:solidFill>
                  <a:srgbClr val="FFFFFF"/>
                </a:solidFill>
              </a:defRPr>
            </a:lvl3pPr>
            <a:lvl4pPr lvl="3">
              <a:lnSpc>
                <a:spcPct val="100000"/>
              </a:lnSpc>
              <a:spcBef>
                <a:spcPts val="0"/>
              </a:spcBef>
              <a:spcAft>
                <a:spcPts val="0"/>
              </a:spcAft>
              <a:buClr>
                <a:srgbClr val="FFFFFF"/>
              </a:buClr>
              <a:buSzPts val="1600"/>
              <a:buNone/>
              <a:defRPr sz="1600">
                <a:solidFill>
                  <a:srgbClr val="FFFFFF"/>
                </a:solidFill>
              </a:defRPr>
            </a:lvl4pPr>
            <a:lvl5pPr lvl="4">
              <a:lnSpc>
                <a:spcPct val="100000"/>
              </a:lnSpc>
              <a:spcBef>
                <a:spcPts val="0"/>
              </a:spcBef>
              <a:spcAft>
                <a:spcPts val="0"/>
              </a:spcAft>
              <a:buClr>
                <a:srgbClr val="FFFFFF"/>
              </a:buClr>
              <a:buSzPts val="1600"/>
              <a:buNone/>
              <a:defRPr sz="1600">
                <a:solidFill>
                  <a:srgbClr val="FFFFFF"/>
                </a:solidFill>
              </a:defRPr>
            </a:lvl5pPr>
            <a:lvl6pPr lvl="5">
              <a:lnSpc>
                <a:spcPct val="100000"/>
              </a:lnSpc>
              <a:spcBef>
                <a:spcPts val="0"/>
              </a:spcBef>
              <a:spcAft>
                <a:spcPts val="0"/>
              </a:spcAft>
              <a:buClr>
                <a:srgbClr val="FFFFFF"/>
              </a:buClr>
              <a:buSzPts val="1600"/>
              <a:buNone/>
              <a:defRPr sz="1600">
                <a:solidFill>
                  <a:srgbClr val="FFFFFF"/>
                </a:solidFill>
              </a:defRPr>
            </a:lvl6pPr>
            <a:lvl7pPr lvl="6">
              <a:lnSpc>
                <a:spcPct val="100000"/>
              </a:lnSpc>
              <a:spcBef>
                <a:spcPts val="0"/>
              </a:spcBef>
              <a:spcAft>
                <a:spcPts val="0"/>
              </a:spcAft>
              <a:buClr>
                <a:srgbClr val="FFFFFF"/>
              </a:buClr>
              <a:buSzPts val="1600"/>
              <a:buNone/>
              <a:defRPr sz="1600">
                <a:solidFill>
                  <a:srgbClr val="FFFFFF"/>
                </a:solidFill>
              </a:defRPr>
            </a:lvl7pPr>
            <a:lvl8pPr lvl="7">
              <a:lnSpc>
                <a:spcPct val="100000"/>
              </a:lnSpc>
              <a:spcBef>
                <a:spcPts val="0"/>
              </a:spcBef>
              <a:spcAft>
                <a:spcPts val="0"/>
              </a:spcAft>
              <a:buClr>
                <a:srgbClr val="FFFFFF"/>
              </a:buClr>
              <a:buSzPts val="1600"/>
              <a:buNone/>
              <a:defRPr sz="1600">
                <a:solidFill>
                  <a:srgbClr val="FFFFFF"/>
                </a:solidFill>
              </a:defRPr>
            </a:lvl8pPr>
            <a:lvl9pPr lvl="8">
              <a:lnSpc>
                <a:spcPct val="100000"/>
              </a:lnSpc>
              <a:spcBef>
                <a:spcPts val="0"/>
              </a:spcBef>
              <a:spcAft>
                <a:spcPts val="0"/>
              </a:spcAft>
              <a:buClr>
                <a:srgbClr val="FFFFFF"/>
              </a:buClr>
              <a:buSzPts val="1600"/>
              <a:buNone/>
              <a:defRPr sz="1600">
                <a:solidFill>
                  <a:srgbClr val="FFFFFF"/>
                </a:solidFill>
              </a:defRPr>
            </a:lvl9pPr>
          </a:lstStyle>
          <a:p/>
        </p:txBody>
      </p:sp>
      <p:sp>
        <p:nvSpPr>
          <p:cNvPr id="105" name="Google Shape;105;p15"/>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6" name="Google Shape;106;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8.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3.jpg"/><Relationship Id="rId5"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A close-up of a modern glass structure. " id="111" name="Google Shape;111;p16"/>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112" name="Google Shape;112;p16"/>
          <p:cNvSpPr txBox="1"/>
          <p:nvPr>
            <p:ph idx="4294967295" type="ctrTitle"/>
          </p:nvPr>
        </p:nvSpPr>
        <p:spPr>
          <a:xfrm>
            <a:off x="73175" y="1099475"/>
            <a:ext cx="4434600" cy="1169700"/>
          </a:xfrm>
          <a:prstGeom prst="rect">
            <a:avLst/>
          </a:prstGeom>
        </p:spPr>
        <p:txBody>
          <a:bodyPr anchorCtr="0" anchor="t" bIns="107050" lIns="107050" spcFirstLastPara="1" rIns="107050" wrap="square" tIns="107050">
            <a:normAutofit fontScale="90000"/>
          </a:bodyPr>
          <a:lstStyle/>
          <a:p>
            <a:pPr indent="0" lvl="0" marL="0" rtl="0" algn="l">
              <a:spcBef>
                <a:spcPts val="0"/>
              </a:spcBef>
              <a:spcAft>
                <a:spcPts val="0"/>
              </a:spcAft>
              <a:buNone/>
            </a:pPr>
            <a:r>
              <a:rPr lang="en" sz="3278">
                <a:solidFill>
                  <a:schemeClr val="accent2"/>
                </a:solidFill>
                <a:latin typeface="Kumar One"/>
                <a:ea typeface="Kumar One"/>
                <a:cs typeface="Kumar One"/>
                <a:sym typeface="Kumar One"/>
              </a:rPr>
              <a:t>Sophomore</a:t>
            </a:r>
            <a:r>
              <a:rPr lang="en" sz="3278">
                <a:solidFill>
                  <a:schemeClr val="accent2"/>
                </a:solidFill>
                <a:latin typeface="Kumar One"/>
                <a:ea typeface="Kumar One"/>
                <a:cs typeface="Kumar One"/>
                <a:sym typeface="Kumar One"/>
              </a:rPr>
              <a:t> Solo Project</a:t>
            </a:r>
            <a:endParaRPr sz="3278">
              <a:solidFill>
                <a:schemeClr val="accent2"/>
              </a:solidFill>
              <a:latin typeface="Kumar One"/>
              <a:ea typeface="Kumar One"/>
              <a:cs typeface="Kumar One"/>
              <a:sym typeface="Kumar One"/>
            </a:endParaRPr>
          </a:p>
        </p:txBody>
      </p:sp>
      <p:sp>
        <p:nvSpPr>
          <p:cNvPr id="113" name="Google Shape;113;p16"/>
          <p:cNvSpPr txBox="1"/>
          <p:nvPr>
            <p:ph idx="1" type="subTitle"/>
          </p:nvPr>
        </p:nvSpPr>
        <p:spPr>
          <a:xfrm>
            <a:off x="137276" y="2425518"/>
            <a:ext cx="4434600" cy="458400"/>
          </a:xfrm>
          <a:prstGeom prst="rect">
            <a:avLst/>
          </a:prstGeom>
        </p:spPr>
        <p:txBody>
          <a:bodyPr anchorCtr="0" anchor="t" bIns="107050" lIns="107050" spcFirstLastPara="1" rIns="107050" wrap="square" tIns="107050">
            <a:noAutofit/>
          </a:bodyPr>
          <a:lstStyle/>
          <a:p>
            <a:pPr indent="0" lvl="0" marL="0" rtl="0" algn="l">
              <a:spcBef>
                <a:spcPts val="0"/>
              </a:spcBef>
              <a:spcAft>
                <a:spcPts val="1405"/>
              </a:spcAft>
              <a:buNone/>
            </a:pPr>
            <a:r>
              <a:rPr b="1" lang="en" sz="2000">
                <a:latin typeface="Kumar One"/>
                <a:ea typeface="Kumar One"/>
                <a:cs typeface="Kumar One"/>
                <a:sym typeface="Kumar One"/>
              </a:rPr>
              <a:t>Macropad</a:t>
            </a:r>
            <a:endParaRPr b="1" sz="2000">
              <a:latin typeface="Kumar One"/>
              <a:ea typeface="Kumar One"/>
              <a:cs typeface="Kumar One"/>
              <a:sym typeface="Kumar One"/>
            </a:endParaRPr>
          </a:p>
        </p:txBody>
      </p:sp>
      <p:sp>
        <p:nvSpPr>
          <p:cNvPr id="114" name="Google Shape;114;p16"/>
          <p:cNvSpPr txBox="1"/>
          <p:nvPr>
            <p:ph idx="1" type="subTitle"/>
          </p:nvPr>
        </p:nvSpPr>
        <p:spPr>
          <a:xfrm>
            <a:off x="137274" y="3040268"/>
            <a:ext cx="4434600" cy="458400"/>
          </a:xfrm>
          <a:prstGeom prst="rect">
            <a:avLst/>
          </a:prstGeom>
        </p:spPr>
        <p:txBody>
          <a:bodyPr anchorCtr="0" anchor="t" bIns="107050" lIns="107050" spcFirstLastPara="1" rIns="107050" wrap="square" tIns="107050">
            <a:noAutofit/>
          </a:bodyPr>
          <a:lstStyle/>
          <a:p>
            <a:pPr indent="0" lvl="0" marL="0" rtl="0" algn="l">
              <a:lnSpc>
                <a:spcPct val="100000"/>
              </a:lnSpc>
              <a:spcBef>
                <a:spcPts val="0"/>
              </a:spcBef>
              <a:spcAft>
                <a:spcPts val="0"/>
              </a:spcAft>
              <a:buNone/>
            </a:pPr>
            <a:r>
              <a:rPr lang="en" sz="1400">
                <a:latin typeface="Bruno Ace SC"/>
                <a:ea typeface="Bruno Ace SC"/>
                <a:cs typeface="Bruno Ace SC"/>
                <a:sym typeface="Bruno Ace SC"/>
              </a:rPr>
              <a:t>Presented and built by</a:t>
            </a:r>
            <a:r>
              <a:rPr lang="en" sz="1400">
                <a:latin typeface="Bruno Ace SC"/>
                <a:ea typeface="Bruno Ace SC"/>
                <a:cs typeface="Bruno Ace SC"/>
                <a:sym typeface="Bruno Ace SC"/>
              </a:rPr>
              <a:t>: </a:t>
            </a:r>
            <a:endParaRPr sz="1400">
              <a:latin typeface="Bruno Ace SC"/>
              <a:ea typeface="Bruno Ace SC"/>
              <a:cs typeface="Bruno Ace SC"/>
              <a:sym typeface="Bruno Ace SC"/>
            </a:endParaRPr>
          </a:p>
          <a:p>
            <a:pPr indent="0" lvl="0" marL="0" rtl="0" algn="l">
              <a:spcBef>
                <a:spcPts val="0"/>
              </a:spcBef>
              <a:spcAft>
                <a:spcPts val="1405"/>
              </a:spcAft>
              <a:buNone/>
            </a:pPr>
            <a:r>
              <a:rPr lang="en" sz="1400">
                <a:latin typeface="Bruno Ace SC"/>
                <a:ea typeface="Bruno Ace SC"/>
                <a:cs typeface="Bruno Ace SC"/>
                <a:sym typeface="Bruno Ace SC"/>
              </a:rPr>
              <a:t>Everett j. Pulskamp</a:t>
            </a:r>
            <a:endParaRPr sz="1400">
              <a:latin typeface="Bruno Ace SC"/>
              <a:ea typeface="Bruno Ace SC"/>
              <a:cs typeface="Bruno Ace SC"/>
              <a:sym typeface="Bruno Ace SC"/>
            </a:endParaRPr>
          </a:p>
        </p:txBody>
      </p:sp>
      <p:sp>
        <p:nvSpPr>
          <p:cNvPr id="115" name="Google Shape;115;p16"/>
          <p:cNvSpPr txBox="1"/>
          <p:nvPr>
            <p:ph idx="1" type="subTitle"/>
          </p:nvPr>
        </p:nvSpPr>
        <p:spPr>
          <a:xfrm>
            <a:off x="137276" y="349393"/>
            <a:ext cx="4434600" cy="458400"/>
          </a:xfrm>
          <a:prstGeom prst="rect">
            <a:avLst/>
          </a:prstGeom>
        </p:spPr>
        <p:txBody>
          <a:bodyPr anchorCtr="0" anchor="t" bIns="107050" lIns="107050" spcFirstLastPara="1" rIns="107050" wrap="square" tIns="107050">
            <a:noAutofit/>
          </a:bodyPr>
          <a:lstStyle/>
          <a:p>
            <a:pPr indent="0" lvl="0" marL="0" rtl="0" algn="l">
              <a:spcBef>
                <a:spcPts val="0"/>
              </a:spcBef>
              <a:spcAft>
                <a:spcPts val="1405"/>
              </a:spcAft>
              <a:buNone/>
            </a:pPr>
            <a:r>
              <a:rPr b="1" lang="en" sz="2000">
                <a:latin typeface="Kumar One"/>
                <a:ea typeface="Kumar One"/>
                <a:cs typeface="Kumar One"/>
                <a:sym typeface="Kumar One"/>
              </a:rPr>
              <a:t>Engineering Principles</a:t>
            </a:r>
            <a:endParaRPr b="1" sz="2000">
              <a:latin typeface="Kumar One"/>
              <a:ea typeface="Kumar One"/>
              <a:cs typeface="Kumar One"/>
              <a:sym typeface="Kumar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9" name="Shape 119"/>
        <p:cNvGrpSpPr/>
        <p:nvPr/>
      </p:nvGrpSpPr>
      <p:grpSpPr>
        <a:xfrm>
          <a:off x="0" y="0"/>
          <a:ext cx="0" cy="0"/>
          <a:chOff x="0" y="0"/>
          <a:chExt cx="0" cy="0"/>
        </a:xfrm>
      </p:grpSpPr>
      <p:sp>
        <p:nvSpPr>
          <p:cNvPr id="120" name="Google Shape;120;p17"/>
          <p:cNvSpPr txBox="1"/>
          <p:nvPr>
            <p:ph type="title"/>
          </p:nvPr>
        </p:nvSpPr>
        <p:spPr>
          <a:xfrm>
            <a:off x="814325" y="1322450"/>
            <a:ext cx="37137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The Problem</a:t>
            </a:r>
            <a:endParaRPr>
              <a:latin typeface="Kumar One"/>
              <a:ea typeface="Kumar One"/>
              <a:cs typeface="Kumar One"/>
              <a:sym typeface="Kumar One"/>
            </a:endParaRPr>
          </a:p>
        </p:txBody>
      </p:sp>
      <p:sp>
        <p:nvSpPr>
          <p:cNvPr id="121" name="Google Shape;121;p17"/>
          <p:cNvSpPr txBox="1"/>
          <p:nvPr>
            <p:ph idx="4294967295" type="subTitle"/>
          </p:nvPr>
        </p:nvSpPr>
        <p:spPr>
          <a:xfrm>
            <a:off x="4572000" y="1322451"/>
            <a:ext cx="4080000" cy="224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100">
                <a:solidFill>
                  <a:srgbClr val="FFFFFF"/>
                </a:solidFill>
              </a:rPr>
              <a:t>There are multiple </a:t>
            </a:r>
            <a:r>
              <a:rPr lang="en" sz="1100">
                <a:solidFill>
                  <a:srgbClr val="FFFFFF"/>
                </a:solidFill>
              </a:rPr>
              <a:t>inefficiencies related to keyboard shortcuts when using computer softwares that require the user to remember a lot of random keyboard strokes  that are suppose to be simple. </a:t>
            </a:r>
            <a:r>
              <a:rPr lang="en" sz="1100">
                <a:solidFill>
                  <a:srgbClr val="FFFFFF"/>
                </a:solidFill>
              </a:rPr>
              <a:t>These activities include copy/paste, bold, extruding, revolved cuts, etc.  The inefficiencies are the number of shortcuts and the combination of shortcuts that need to be used together.   These are problematic because of the ability of the user to remember the complexity of the shortcuts. </a:t>
            </a:r>
            <a:endParaRPr sz="1100"/>
          </a:p>
        </p:txBody>
      </p:sp>
      <p:pic>
        <p:nvPicPr>
          <p:cNvPr descr="A close-up of a modern glass structure. " id="122" name="Google Shape;122;p17"/>
          <p:cNvPicPr preferRelativeResize="0"/>
          <p:nvPr/>
        </p:nvPicPr>
        <p:blipFill rotWithShape="1">
          <a:blip r:embed="rId3">
            <a:alphaModFix/>
          </a:blip>
          <a:srcRect b="39175" l="20429" r="20423" t="34146"/>
          <a:stretch/>
        </p:blipFill>
        <p:spPr>
          <a:xfrm>
            <a:off x="0" y="3768925"/>
            <a:ext cx="9144003" cy="1374575"/>
          </a:xfrm>
          <a:prstGeom prst="rect">
            <a:avLst/>
          </a:prstGeom>
          <a:noFill/>
          <a:ln>
            <a:noFill/>
          </a:ln>
        </p:spPr>
      </p:pic>
      <p:pic>
        <p:nvPicPr>
          <p:cNvPr id="123" name="Google Shape;123;p17" title="Solution.png"/>
          <p:cNvPicPr preferRelativeResize="0"/>
          <p:nvPr/>
        </p:nvPicPr>
        <p:blipFill>
          <a:blip r:embed="rId4">
            <a:alphaModFix/>
          </a:blip>
          <a:stretch>
            <a:fillRect/>
          </a:stretch>
        </p:blipFill>
        <p:spPr>
          <a:xfrm>
            <a:off x="1499050" y="2050000"/>
            <a:ext cx="1472750" cy="1472750"/>
          </a:xfrm>
          <a:prstGeom prst="rect">
            <a:avLst/>
          </a:prstGeom>
          <a:noFill/>
          <a:ln>
            <a:noFill/>
          </a:ln>
        </p:spPr>
      </p:pic>
      <p:pic>
        <p:nvPicPr>
          <p:cNvPr id="124" name="Google Shape;124;p17" title="problem.png"/>
          <p:cNvPicPr preferRelativeResize="0"/>
          <p:nvPr/>
        </p:nvPicPr>
        <p:blipFill>
          <a:blip r:embed="rId5">
            <a:alphaModFix/>
          </a:blip>
          <a:stretch>
            <a:fillRect/>
          </a:stretch>
        </p:blipFill>
        <p:spPr>
          <a:xfrm>
            <a:off x="1499050" y="2050000"/>
            <a:ext cx="1472750" cy="1472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28" name="Shape 128"/>
        <p:cNvGrpSpPr/>
        <p:nvPr/>
      </p:nvGrpSpPr>
      <p:grpSpPr>
        <a:xfrm>
          <a:off x="0" y="0"/>
          <a:ext cx="0" cy="0"/>
          <a:chOff x="0" y="0"/>
          <a:chExt cx="0" cy="0"/>
        </a:xfrm>
      </p:grpSpPr>
      <p:sp>
        <p:nvSpPr>
          <p:cNvPr id="129" name="Google Shape;129;p18"/>
          <p:cNvSpPr txBox="1"/>
          <p:nvPr>
            <p:ph type="title"/>
          </p:nvPr>
        </p:nvSpPr>
        <p:spPr>
          <a:xfrm>
            <a:off x="824500" y="1322450"/>
            <a:ext cx="39468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The Solution</a:t>
            </a:r>
            <a:endParaRPr>
              <a:latin typeface="Kumar One"/>
              <a:ea typeface="Kumar One"/>
              <a:cs typeface="Kumar One"/>
              <a:sym typeface="Kumar One"/>
            </a:endParaRPr>
          </a:p>
        </p:txBody>
      </p:sp>
      <p:sp>
        <p:nvSpPr>
          <p:cNvPr id="130" name="Google Shape;130;p18"/>
          <p:cNvSpPr txBox="1"/>
          <p:nvPr>
            <p:ph idx="4294967295" type="subTitle"/>
          </p:nvPr>
        </p:nvSpPr>
        <p:spPr>
          <a:xfrm>
            <a:off x="4636000" y="1322460"/>
            <a:ext cx="4080000" cy="201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a:solidFill>
                  <a:srgbClr val="FFFFFF"/>
                </a:solidFill>
              </a:rPr>
              <a:t>My solution is to make a small, programmable macropad that has multiple keys and rotary encoders to simplify using these keyboard shortcuts. For example, instead of a user needing to remember CTRL+SHIFT+T to reopen the last tab that they had open in their web browser, a single key can be </a:t>
            </a:r>
            <a:r>
              <a:rPr lang="en" sz="1100">
                <a:solidFill>
                  <a:srgbClr val="FFFFFF"/>
                </a:solidFill>
              </a:rPr>
              <a:t>pre programmed</a:t>
            </a:r>
            <a:r>
              <a:rPr lang="en" sz="1100">
                <a:solidFill>
                  <a:srgbClr val="FFFFFF"/>
                </a:solidFill>
              </a:rPr>
              <a:t> on the macropad so that the user only has to click one button instead of </a:t>
            </a:r>
            <a:r>
              <a:rPr lang="en" sz="1100">
                <a:solidFill>
                  <a:srgbClr val="FFFFFF"/>
                </a:solidFill>
              </a:rPr>
              <a:t>remember</a:t>
            </a:r>
            <a:r>
              <a:rPr lang="en" sz="1100">
                <a:solidFill>
                  <a:srgbClr val="FFFFFF"/>
                </a:solidFill>
              </a:rPr>
              <a:t> a </a:t>
            </a:r>
            <a:r>
              <a:rPr lang="en" sz="1100">
                <a:solidFill>
                  <a:srgbClr val="FFFFFF"/>
                </a:solidFill>
              </a:rPr>
              <a:t>combination</a:t>
            </a:r>
            <a:r>
              <a:rPr lang="en" sz="1100">
                <a:solidFill>
                  <a:srgbClr val="FFFFFF"/>
                </a:solidFill>
              </a:rPr>
              <a:t> of 3 different keys.</a:t>
            </a:r>
            <a:endParaRPr sz="1100"/>
          </a:p>
        </p:txBody>
      </p:sp>
      <p:pic>
        <p:nvPicPr>
          <p:cNvPr descr="A close-up of a modern glass structure. " id="131" name="Google Shape;131;p18"/>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pic>
        <p:nvPicPr>
          <p:cNvPr id="132" name="Google Shape;132;p18" title="Solution.png"/>
          <p:cNvPicPr preferRelativeResize="0"/>
          <p:nvPr/>
        </p:nvPicPr>
        <p:blipFill>
          <a:blip r:embed="rId4">
            <a:alphaModFix/>
          </a:blip>
          <a:stretch>
            <a:fillRect/>
          </a:stretch>
        </p:blipFill>
        <p:spPr>
          <a:xfrm>
            <a:off x="1367200" y="2031027"/>
            <a:ext cx="1705701" cy="1705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36" name="Shape 136"/>
        <p:cNvGrpSpPr/>
        <p:nvPr/>
      </p:nvGrpSpPr>
      <p:grpSpPr>
        <a:xfrm>
          <a:off x="0" y="0"/>
          <a:ext cx="0" cy="0"/>
          <a:chOff x="0" y="0"/>
          <a:chExt cx="0" cy="0"/>
        </a:xfrm>
      </p:grpSpPr>
      <p:sp>
        <p:nvSpPr>
          <p:cNvPr id="137" name="Google Shape;137;p19"/>
          <p:cNvSpPr txBox="1"/>
          <p:nvPr>
            <p:ph type="title"/>
          </p:nvPr>
        </p:nvSpPr>
        <p:spPr>
          <a:xfrm>
            <a:off x="729450" y="1322450"/>
            <a:ext cx="37053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044">
                <a:latin typeface="Kumar One"/>
                <a:ea typeface="Kumar One"/>
                <a:cs typeface="Kumar One"/>
                <a:sym typeface="Kumar One"/>
              </a:rPr>
              <a:t>The Journey</a:t>
            </a:r>
            <a:br>
              <a:rPr lang="en">
                <a:latin typeface="Kumar One"/>
                <a:ea typeface="Kumar One"/>
                <a:cs typeface="Kumar One"/>
                <a:sym typeface="Kumar One"/>
              </a:rPr>
            </a:br>
            <a:r>
              <a:rPr b="0" lang="en" sz="1600">
                <a:latin typeface="Bruno Ace SC"/>
                <a:ea typeface="Bruno Ace SC"/>
                <a:cs typeface="Bruno Ace SC"/>
                <a:sym typeface="Bruno Ace SC"/>
              </a:rPr>
              <a:t>Concept Development</a:t>
            </a:r>
            <a:endParaRPr b="0" sz="1600">
              <a:latin typeface="Bruno Ace SC"/>
              <a:ea typeface="Bruno Ace SC"/>
              <a:cs typeface="Bruno Ace SC"/>
              <a:sym typeface="Bruno Ace SC"/>
            </a:endParaRPr>
          </a:p>
          <a:p>
            <a:pPr indent="0" lvl="0" marL="0" rtl="0" algn="l">
              <a:spcBef>
                <a:spcPts val="0"/>
              </a:spcBef>
              <a:spcAft>
                <a:spcPts val="0"/>
              </a:spcAft>
              <a:buNone/>
            </a:pPr>
            <a:r>
              <a:t/>
            </a:r>
            <a:endParaRPr>
              <a:latin typeface="Kumar One"/>
              <a:ea typeface="Kumar One"/>
              <a:cs typeface="Kumar One"/>
              <a:sym typeface="Kumar One"/>
            </a:endParaRPr>
          </a:p>
        </p:txBody>
      </p:sp>
      <p:sp>
        <p:nvSpPr>
          <p:cNvPr id="138" name="Google Shape;138;p19"/>
          <p:cNvSpPr txBox="1"/>
          <p:nvPr>
            <p:ph idx="4294967295" type="subTitle"/>
          </p:nvPr>
        </p:nvSpPr>
        <p:spPr>
          <a:xfrm>
            <a:off x="4572000" y="1322450"/>
            <a:ext cx="4475400" cy="1911600"/>
          </a:xfrm>
          <a:prstGeom prst="rect">
            <a:avLst/>
          </a:prstGeom>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I started out by making a proof on concept with an Arduino UNO, 4x4 membrane keyboard, potentiometers, and an lcd display</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The lcd display simulated the computer and would show what key was pressed and what the potentiometers changes</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After a a few days with testing on the UNO, I switched to a Nano because it was smaller</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The Arduino would not work because it didn’t have HID support so I chose a Raspberry PI Pico for the microcontroller</a:t>
            </a:r>
            <a:endParaRPr sz="1100">
              <a:solidFill>
                <a:srgbClr val="FFFFFF"/>
              </a:solidFill>
            </a:endParaRPr>
          </a:p>
        </p:txBody>
      </p:sp>
      <p:pic>
        <p:nvPicPr>
          <p:cNvPr descr="A close-up of a modern glass structure. " id="139" name="Google Shape;139;p19"/>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pic>
        <p:nvPicPr>
          <p:cNvPr id="140" name="Google Shape;140;p19" title="IMG_1943.jpeg"/>
          <p:cNvPicPr preferRelativeResize="0"/>
          <p:nvPr/>
        </p:nvPicPr>
        <p:blipFill rotWithShape="1">
          <a:blip r:embed="rId4">
            <a:alphaModFix/>
          </a:blip>
          <a:srcRect b="0" l="0" r="5758" t="0"/>
          <a:stretch/>
        </p:blipFill>
        <p:spPr>
          <a:xfrm>
            <a:off x="462754" y="2500549"/>
            <a:ext cx="3301448" cy="2473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44" name="Shape 144"/>
        <p:cNvGrpSpPr/>
        <p:nvPr/>
      </p:nvGrpSpPr>
      <p:grpSpPr>
        <a:xfrm>
          <a:off x="0" y="0"/>
          <a:ext cx="0" cy="0"/>
          <a:chOff x="0" y="0"/>
          <a:chExt cx="0" cy="0"/>
        </a:xfrm>
      </p:grpSpPr>
      <p:sp>
        <p:nvSpPr>
          <p:cNvPr id="145" name="Google Shape;145;p20"/>
          <p:cNvSpPr txBox="1"/>
          <p:nvPr>
            <p:ph type="title"/>
          </p:nvPr>
        </p:nvSpPr>
        <p:spPr>
          <a:xfrm>
            <a:off x="729450" y="1322450"/>
            <a:ext cx="34722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The Journey</a:t>
            </a:r>
            <a:br>
              <a:rPr lang="en">
                <a:latin typeface="Kumar One"/>
                <a:ea typeface="Kumar One"/>
                <a:cs typeface="Kumar One"/>
                <a:sym typeface="Kumar One"/>
              </a:rPr>
            </a:br>
            <a:r>
              <a:rPr b="0" lang="en" sz="1600">
                <a:latin typeface="Bruno Ace SC"/>
                <a:ea typeface="Bruno Ace SC"/>
                <a:cs typeface="Bruno Ace SC"/>
                <a:sym typeface="Bruno Ace SC"/>
              </a:rPr>
              <a:t>Design &amp; Engineering</a:t>
            </a:r>
            <a:endParaRPr>
              <a:latin typeface="Kumar One"/>
              <a:ea typeface="Kumar One"/>
              <a:cs typeface="Kumar One"/>
              <a:sym typeface="Kumar One"/>
            </a:endParaRPr>
          </a:p>
        </p:txBody>
      </p:sp>
      <p:pic>
        <p:nvPicPr>
          <p:cNvPr descr="A close-up of a modern glass structure. " id="146" name="Google Shape;146;p20"/>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sp>
        <p:nvSpPr>
          <p:cNvPr id="147" name="Google Shape;147;p20"/>
          <p:cNvSpPr txBox="1"/>
          <p:nvPr>
            <p:ph idx="4294967295" type="subTitle"/>
          </p:nvPr>
        </p:nvSpPr>
        <p:spPr>
          <a:xfrm>
            <a:off x="4572000" y="1322450"/>
            <a:ext cx="4440000" cy="2106300"/>
          </a:xfrm>
          <a:prstGeom prst="rect">
            <a:avLst/>
          </a:prstGeom>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Design was heavily based on the Keebmonkey Megalodon for its use of mechanical keys and rotary encoders</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Added screen display information related to what each key currently does, what the volume is etc.</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Added RGB strip to back for  a pop of color and customization</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Made the size small enough t</a:t>
            </a:r>
            <a:r>
              <a:rPr lang="en" sz="1100">
                <a:solidFill>
                  <a:srgbClr val="FFFFFF"/>
                </a:solidFill>
              </a:rPr>
              <a:t>o fit on any desk/working space</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I did regularly have to redo the wiring so that it would stay clean and repairable</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The key switches are </a:t>
            </a:r>
            <a:r>
              <a:rPr lang="en" sz="1100">
                <a:solidFill>
                  <a:srgbClr val="FFFFFF"/>
                </a:solidFill>
              </a:rPr>
              <a:t>connected</a:t>
            </a:r>
            <a:r>
              <a:rPr lang="en" sz="1100">
                <a:solidFill>
                  <a:srgbClr val="FFFFFF"/>
                </a:solidFill>
              </a:rPr>
              <a:t> to the Pico as rows and </a:t>
            </a:r>
            <a:r>
              <a:rPr lang="en" sz="1100">
                <a:solidFill>
                  <a:srgbClr val="FFFFFF"/>
                </a:solidFill>
              </a:rPr>
              <a:t>columns</a:t>
            </a:r>
            <a:r>
              <a:rPr lang="en" sz="1100">
                <a:solidFill>
                  <a:srgbClr val="FFFFFF"/>
                </a:solidFill>
              </a:rPr>
              <a:t> to minimize the amount of wiring needed</a:t>
            </a:r>
            <a:endParaRPr sz="1100">
              <a:solidFill>
                <a:srgbClr val="FFFFFF"/>
              </a:solidFill>
            </a:endParaRPr>
          </a:p>
        </p:txBody>
      </p:sp>
      <p:pic>
        <p:nvPicPr>
          <p:cNvPr id="148" name="Google Shape;148;p20" title="IMG_0150.jpeg"/>
          <p:cNvPicPr preferRelativeResize="0"/>
          <p:nvPr/>
        </p:nvPicPr>
        <p:blipFill>
          <a:blip r:embed="rId4">
            <a:alphaModFix/>
          </a:blip>
          <a:stretch>
            <a:fillRect/>
          </a:stretch>
        </p:blipFill>
        <p:spPr>
          <a:xfrm>
            <a:off x="625200" y="2527263"/>
            <a:ext cx="3236850" cy="2427650"/>
          </a:xfrm>
          <a:prstGeom prst="rect">
            <a:avLst/>
          </a:prstGeom>
          <a:noFill/>
          <a:ln>
            <a:noFill/>
          </a:ln>
        </p:spPr>
      </p:pic>
      <p:pic>
        <p:nvPicPr>
          <p:cNvPr id="149" name="Google Shape;149;p20"/>
          <p:cNvPicPr preferRelativeResize="0"/>
          <p:nvPr/>
        </p:nvPicPr>
        <p:blipFill>
          <a:blip r:embed="rId5">
            <a:alphaModFix/>
          </a:blip>
          <a:stretch>
            <a:fillRect/>
          </a:stretch>
        </p:blipFill>
        <p:spPr>
          <a:xfrm>
            <a:off x="3944600" y="3428750"/>
            <a:ext cx="1891004" cy="1714750"/>
          </a:xfrm>
          <a:prstGeom prst="rect">
            <a:avLst/>
          </a:prstGeom>
          <a:noFill/>
          <a:ln>
            <a:noFill/>
          </a:ln>
        </p:spPr>
      </p:pic>
      <p:pic>
        <p:nvPicPr>
          <p:cNvPr id="150" name="Google Shape;150;p20"/>
          <p:cNvPicPr preferRelativeResize="0"/>
          <p:nvPr/>
        </p:nvPicPr>
        <p:blipFill>
          <a:blip r:embed="rId6">
            <a:alphaModFix/>
          </a:blip>
          <a:stretch>
            <a:fillRect/>
          </a:stretch>
        </p:blipFill>
        <p:spPr>
          <a:xfrm>
            <a:off x="6163773" y="3568200"/>
            <a:ext cx="2027409" cy="1518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54" name="Shape 154"/>
        <p:cNvGrpSpPr/>
        <p:nvPr/>
      </p:nvGrpSpPr>
      <p:grpSpPr>
        <a:xfrm>
          <a:off x="0" y="0"/>
          <a:ext cx="0" cy="0"/>
          <a:chOff x="0" y="0"/>
          <a:chExt cx="0" cy="0"/>
        </a:xfrm>
      </p:grpSpPr>
      <p:sp>
        <p:nvSpPr>
          <p:cNvPr id="155" name="Google Shape;155;p21"/>
          <p:cNvSpPr txBox="1"/>
          <p:nvPr>
            <p:ph type="title"/>
          </p:nvPr>
        </p:nvSpPr>
        <p:spPr>
          <a:xfrm>
            <a:off x="729450" y="1322450"/>
            <a:ext cx="34722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The Journey</a:t>
            </a:r>
            <a:endParaRPr>
              <a:latin typeface="Kumar One"/>
              <a:ea typeface="Kumar One"/>
              <a:cs typeface="Kumar One"/>
              <a:sym typeface="Kumar One"/>
            </a:endParaRPr>
          </a:p>
          <a:p>
            <a:pPr indent="0" lvl="0" marL="0" rtl="0" algn="l">
              <a:lnSpc>
                <a:spcPct val="115000"/>
              </a:lnSpc>
              <a:spcBef>
                <a:spcPts val="0"/>
              </a:spcBef>
              <a:spcAft>
                <a:spcPts val="1200"/>
              </a:spcAft>
              <a:buNone/>
            </a:pPr>
            <a:r>
              <a:rPr b="0" lang="en" sz="1600">
                <a:latin typeface="Bruno Ace SC"/>
                <a:ea typeface="Bruno Ace SC"/>
                <a:cs typeface="Bruno Ace SC"/>
                <a:sym typeface="Bruno Ace SC"/>
              </a:rPr>
              <a:t>Programming</a:t>
            </a:r>
            <a:endParaRPr>
              <a:latin typeface="Kumar One"/>
              <a:ea typeface="Kumar One"/>
              <a:cs typeface="Kumar One"/>
              <a:sym typeface="Kumar One"/>
            </a:endParaRPr>
          </a:p>
        </p:txBody>
      </p:sp>
      <p:pic>
        <p:nvPicPr>
          <p:cNvPr descr="A close-up of a modern glass structure. " id="156" name="Google Shape;156;p21"/>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sp>
        <p:nvSpPr>
          <p:cNvPr id="157" name="Google Shape;157;p21"/>
          <p:cNvSpPr txBox="1"/>
          <p:nvPr>
            <p:ph idx="4294967295" type="subTitle"/>
          </p:nvPr>
        </p:nvSpPr>
        <p:spPr>
          <a:xfrm>
            <a:off x="4422525" y="1322452"/>
            <a:ext cx="4080000" cy="1431600"/>
          </a:xfrm>
          <a:prstGeom prst="rect">
            <a:avLst/>
          </a:prstGeom>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FFFFFF"/>
              </a:buClr>
              <a:buSzPts val="1200"/>
              <a:buChar char="➢"/>
            </a:pPr>
            <a:r>
              <a:rPr lang="en" sz="1200">
                <a:solidFill>
                  <a:srgbClr val="FFFFFF"/>
                </a:solidFill>
              </a:rPr>
              <a:t>Code is written in CircuitPython using VScode</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Utilized KMK library</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Had to go through 2 Raspberry PI Picos because the first one got fried while uploading programming</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Uses “Layers” which are profiles that set what each key is programmed to do </a:t>
            </a:r>
            <a:endParaRPr sz="1200">
              <a:solidFill>
                <a:srgbClr val="FFFFFF"/>
              </a:solidFill>
            </a:endParaRPr>
          </a:p>
        </p:txBody>
      </p:sp>
      <p:pic>
        <p:nvPicPr>
          <p:cNvPr id="158" name="Google Shape;158;p21"/>
          <p:cNvPicPr preferRelativeResize="0"/>
          <p:nvPr/>
        </p:nvPicPr>
        <p:blipFill>
          <a:blip r:embed="rId4">
            <a:alphaModFix/>
          </a:blip>
          <a:stretch>
            <a:fillRect/>
          </a:stretch>
        </p:blipFill>
        <p:spPr>
          <a:xfrm>
            <a:off x="39950" y="2506051"/>
            <a:ext cx="3353875" cy="1274450"/>
          </a:xfrm>
          <a:prstGeom prst="rect">
            <a:avLst/>
          </a:prstGeom>
          <a:noFill/>
          <a:ln>
            <a:noFill/>
          </a:ln>
        </p:spPr>
      </p:pic>
      <p:pic>
        <p:nvPicPr>
          <p:cNvPr id="159" name="Google Shape;159;p21" title="image.png"/>
          <p:cNvPicPr preferRelativeResize="0"/>
          <p:nvPr/>
        </p:nvPicPr>
        <p:blipFill>
          <a:blip r:embed="rId5">
            <a:alphaModFix/>
          </a:blip>
          <a:stretch>
            <a:fillRect/>
          </a:stretch>
        </p:blipFill>
        <p:spPr>
          <a:xfrm>
            <a:off x="2039825" y="3433975"/>
            <a:ext cx="3059726" cy="1721099"/>
          </a:xfrm>
          <a:prstGeom prst="rect">
            <a:avLst/>
          </a:prstGeom>
          <a:noFill/>
          <a:ln>
            <a:noFill/>
          </a:ln>
        </p:spPr>
      </p:pic>
      <p:pic>
        <p:nvPicPr>
          <p:cNvPr id="160" name="Google Shape;160;p21" title="image.png"/>
          <p:cNvPicPr preferRelativeResize="0"/>
          <p:nvPr/>
        </p:nvPicPr>
        <p:blipFill>
          <a:blip r:embed="rId6">
            <a:alphaModFix/>
          </a:blip>
          <a:stretch>
            <a:fillRect/>
          </a:stretch>
        </p:blipFill>
        <p:spPr>
          <a:xfrm>
            <a:off x="5099550" y="2901587"/>
            <a:ext cx="3402974" cy="19141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64" name="Shape 164"/>
        <p:cNvGrpSpPr/>
        <p:nvPr/>
      </p:nvGrpSpPr>
      <p:grpSpPr>
        <a:xfrm>
          <a:off x="0" y="0"/>
          <a:ext cx="0" cy="0"/>
          <a:chOff x="0" y="0"/>
          <a:chExt cx="0" cy="0"/>
        </a:xfrm>
      </p:grpSpPr>
      <p:sp>
        <p:nvSpPr>
          <p:cNvPr id="165" name="Google Shape;165;p22"/>
          <p:cNvSpPr txBox="1"/>
          <p:nvPr>
            <p:ph type="title"/>
          </p:nvPr>
        </p:nvSpPr>
        <p:spPr>
          <a:xfrm>
            <a:off x="729450" y="1322450"/>
            <a:ext cx="34722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The Journey</a:t>
            </a:r>
            <a:endParaRPr>
              <a:latin typeface="Kumar One"/>
              <a:ea typeface="Kumar One"/>
              <a:cs typeface="Kumar One"/>
              <a:sym typeface="Kumar One"/>
            </a:endParaRPr>
          </a:p>
          <a:p>
            <a:pPr indent="0" lvl="0" marL="0" rtl="0" algn="l">
              <a:lnSpc>
                <a:spcPct val="115000"/>
              </a:lnSpc>
              <a:spcBef>
                <a:spcPts val="0"/>
              </a:spcBef>
              <a:spcAft>
                <a:spcPts val="1200"/>
              </a:spcAft>
              <a:buNone/>
            </a:pPr>
            <a:r>
              <a:rPr b="0" lang="en" sz="1600">
                <a:latin typeface="Bruno Ace SC"/>
                <a:ea typeface="Bruno Ace SC"/>
                <a:cs typeface="Bruno Ace SC"/>
                <a:sym typeface="Bruno Ace SC"/>
              </a:rPr>
              <a:t>Assembly </a:t>
            </a:r>
            <a:endParaRPr>
              <a:latin typeface="Kumar One"/>
              <a:ea typeface="Kumar One"/>
              <a:cs typeface="Kumar One"/>
              <a:sym typeface="Kumar One"/>
            </a:endParaRPr>
          </a:p>
        </p:txBody>
      </p:sp>
      <p:pic>
        <p:nvPicPr>
          <p:cNvPr descr="A close-up of a modern glass structure. " id="166" name="Google Shape;166;p22"/>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sp>
        <p:nvSpPr>
          <p:cNvPr id="167" name="Google Shape;167;p22"/>
          <p:cNvSpPr txBox="1"/>
          <p:nvPr>
            <p:ph idx="4294967295" type="subTitle"/>
          </p:nvPr>
        </p:nvSpPr>
        <p:spPr>
          <a:xfrm>
            <a:off x="4270425" y="103250"/>
            <a:ext cx="4741800" cy="25569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Char char="➢"/>
            </a:pPr>
            <a:r>
              <a:rPr lang="en" sz="1200">
                <a:solidFill>
                  <a:srgbClr val="FFFFFF"/>
                </a:solidFill>
              </a:rPr>
              <a:t>Involved soldering wires that were the size of human hairs</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While installing the RGB strip, the glow insert I originally made didn’t fit so i filled the space where the glow insert was supposed to go with hot glue </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The rotary encoders were secured to the face plate with 12mm washers and nuts</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Screen, USB-C breakout, and Kalih Box Navy Mechanical Switches were secured in places with hot glue</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Raspberry Pi Pico and faceplate are secured in place with 4 M2x12mm socket head bolts</a:t>
            </a:r>
            <a:endParaRPr sz="1200">
              <a:solidFill>
                <a:srgbClr val="FFFFFF"/>
              </a:solidFill>
            </a:endParaRPr>
          </a:p>
        </p:txBody>
      </p:sp>
      <p:pic>
        <p:nvPicPr>
          <p:cNvPr id="168" name="Google Shape;168;p22" title="IMG_7680.jpeg"/>
          <p:cNvPicPr preferRelativeResize="0"/>
          <p:nvPr/>
        </p:nvPicPr>
        <p:blipFill>
          <a:blip r:embed="rId4">
            <a:alphaModFix/>
          </a:blip>
          <a:stretch>
            <a:fillRect/>
          </a:stretch>
        </p:blipFill>
        <p:spPr>
          <a:xfrm>
            <a:off x="105500" y="2350075"/>
            <a:ext cx="2087598" cy="1565699"/>
          </a:xfrm>
          <a:prstGeom prst="rect">
            <a:avLst/>
          </a:prstGeom>
          <a:noFill/>
          <a:ln>
            <a:noFill/>
          </a:ln>
        </p:spPr>
      </p:pic>
      <p:pic>
        <p:nvPicPr>
          <p:cNvPr id="169" name="Google Shape;169;p22" title="IMG_0151.jpeg"/>
          <p:cNvPicPr preferRelativeResize="0"/>
          <p:nvPr/>
        </p:nvPicPr>
        <p:blipFill>
          <a:blip r:embed="rId5">
            <a:alphaModFix/>
          </a:blip>
          <a:stretch>
            <a:fillRect/>
          </a:stretch>
        </p:blipFill>
        <p:spPr>
          <a:xfrm>
            <a:off x="2237875" y="2956200"/>
            <a:ext cx="2828525" cy="2121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73" name="Shape 173"/>
        <p:cNvGrpSpPr/>
        <p:nvPr/>
      </p:nvGrpSpPr>
      <p:grpSpPr>
        <a:xfrm>
          <a:off x="0" y="0"/>
          <a:ext cx="0" cy="0"/>
          <a:chOff x="0" y="0"/>
          <a:chExt cx="0" cy="0"/>
        </a:xfrm>
      </p:grpSpPr>
      <p:sp>
        <p:nvSpPr>
          <p:cNvPr id="174" name="Google Shape;174;p23"/>
          <p:cNvSpPr txBox="1"/>
          <p:nvPr>
            <p:ph type="title"/>
          </p:nvPr>
        </p:nvSpPr>
        <p:spPr>
          <a:xfrm>
            <a:off x="729450" y="1322450"/>
            <a:ext cx="36219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044">
                <a:latin typeface="Kumar One"/>
                <a:ea typeface="Kumar One"/>
                <a:cs typeface="Kumar One"/>
                <a:sym typeface="Kumar One"/>
              </a:rPr>
              <a:t>The Journey</a:t>
            </a:r>
            <a:endParaRPr sz="4044">
              <a:latin typeface="Kumar One"/>
              <a:ea typeface="Kumar One"/>
              <a:cs typeface="Kumar One"/>
              <a:sym typeface="Kumar One"/>
            </a:endParaRPr>
          </a:p>
          <a:p>
            <a:pPr indent="0" lvl="0" marL="0" rtl="0" algn="l">
              <a:lnSpc>
                <a:spcPct val="115000"/>
              </a:lnSpc>
              <a:spcBef>
                <a:spcPts val="0"/>
              </a:spcBef>
              <a:spcAft>
                <a:spcPts val="0"/>
              </a:spcAft>
              <a:buNone/>
            </a:pPr>
            <a:r>
              <a:rPr b="0" lang="en" sz="1600">
                <a:latin typeface="Bruno Ace SC"/>
                <a:ea typeface="Bruno Ace SC"/>
                <a:cs typeface="Bruno Ace SC"/>
                <a:sym typeface="Bruno Ace SC"/>
              </a:rPr>
              <a:t>Testing &amp; Validation </a:t>
            </a:r>
            <a:endParaRPr b="0" sz="1600">
              <a:latin typeface="Bruno Ace SC"/>
              <a:ea typeface="Bruno Ace SC"/>
              <a:cs typeface="Bruno Ace SC"/>
              <a:sym typeface="Bruno Ace SC"/>
            </a:endParaRPr>
          </a:p>
          <a:p>
            <a:pPr indent="0" lvl="0" marL="0" rtl="0" algn="l">
              <a:spcBef>
                <a:spcPts val="1200"/>
              </a:spcBef>
              <a:spcAft>
                <a:spcPts val="0"/>
              </a:spcAft>
              <a:buNone/>
            </a:pPr>
            <a:r>
              <a:t/>
            </a:r>
            <a:endParaRPr>
              <a:latin typeface="Kumar One"/>
              <a:ea typeface="Kumar One"/>
              <a:cs typeface="Kumar One"/>
              <a:sym typeface="Kumar One"/>
            </a:endParaRPr>
          </a:p>
        </p:txBody>
      </p:sp>
      <p:pic>
        <p:nvPicPr>
          <p:cNvPr descr="A close-up of a modern glass structure. " id="175" name="Google Shape;175;p23"/>
          <p:cNvPicPr preferRelativeResize="0"/>
          <p:nvPr/>
        </p:nvPicPr>
        <p:blipFill rotWithShape="1">
          <a:blip r:embed="rId3">
            <a:alphaModFix/>
          </a:blip>
          <a:srcRect b="39175" l="20429" r="20423" t="34146"/>
          <a:stretch/>
        </p:blipFill>
        <p:spPr>
          <a:xfrm>
            <a:off x="0" y="3780500"/>
            <a:ext cx="9144003" cy="1374575"/>
          </a:xfrm>
          <a:prstGeom prst="rect">
            <a:avLst/>
          </a:prstGeom>
          <a:noFill/>
          <a:ln>
            <a:noFill/>
          </a:ln>
        </p:spPr>
      </p:pic>
      <p:sp>
        <p:nvSpPr>
          <p:cNvPr id="176" name="Google Shape;176;p23"/>
          <p:cNvSpPr txBox="1"/>
          <p:nvPr>
            <p:ph idx="4294967295" type="subTitle"/>
          </p:nvPr>
        </p:nvSpPr>
        <p:spPr>
          <a:xfrm>
            <a:off x="4270425" y="1093850"/>
            <a:ext cx="4741800" cy="25569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Char char="➢"/>
            </a:pPr>
            <a:r>
              <a:rPr lang="en" sz="1200">
                <a:solidFill>
                  <a:srgbClr val="FFFFFF"/>
                </a:solidFill>
              </a:rPr>
              <a:t>Regularly had to reiterate and update code throughout because of errors with outdated library </a:t>
            </a:r>
            <a:r>
              <a:rPr lang="en" sz="1200">
                <a:solidFill>
                  <a:srgbClr val="FFFFFF"/>
                </a:solidFill>
              </a:rPr>
              <a:t>files</a:t>
            </a:r>
            <a:r>
              <a:rPr lang="en" sz="1200">
                <a:solidFill>
                  <a:srgbClr val="FFFFFF"/>
                </a:solidFill>
              </a:rPr>
              <a:t> or because of a bad microcontroller</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Switched from a first gen Raspberry PI Pico to a second gen model due to conflicts with code compatibility and also because the first gen Pico turned out to be defective</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Finally got code to work on version 42</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Tested by first running led blink script to make sure the mcu (</a:t>
            </a:r>
            <a:r>
              <a:rPr b="1" lang="en" sz="1200">
                <a:solidFill>
                  <a:srgbClr val="FFFFFF"/>
                </a:solidFill>
              </a:rPr>
              <a:t>m</a:t>
            </a:r>
            <a:r>
              <a:rPr lang="en" sz="1200">
                <a:solidFill>
                  <a:srgbClr val="FFFFFF"/>
                </a:solidFill>
              </a:rPr>
              <a:t>icro</a:t>
            </a:r>
            <a:r>
              <a:rPr b="1" lang="en" sz="1200">
                <a:solidFill>
                  <a:srgbClr val="FFFFFF"/>
                </a:solidFill>
              </a:rPr>
              <a:t>c</a:t>
            </a:r>
            <a:r>
              <a:rPr lang="en" sz="1200">
                <a:solidFill>
                  <a:srgbClr val="FFFFFF"/>
                </a:solidFill>
              </a:rPr>
              <a:t>ontroller </a:t>
            </a:r>
            <a:r>
              <a:rPr b="1" lang="en" sz="1200">
                <a:solidFill>
                  <a:srgbClr val="FFFFFF"/>
                </a:solidFill>
              </a:rPr>
              <a:t>u</a:t>
            </a:r>
            <a:r>
              <a:rPr lang="en" sz="1200">
                <a:solidFill>
                  <a:srgbClr val="FFFFFF"/>
                </a:solidFill>
              </a:rPr>
              <a:t>nit) worked, then tested each component individually to make sure they all worked </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 sz="1200">
                <a:solidFill>
                  <a:srgbClr val="FFFFFF"/>
                </a:solidFill>
              </a:rPr>
              <a:t>After that, put everything together and made it work as a complete project</a:t>
            </a:r>
            <a:endParaRPr sz="12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80" name="Shape 180"/>
        <p:cNvGrpSpPr/>
        <p:nvPr/>
      </p:nvGrpSpPr>
      <p:grpSpPr>
        <a:xfrm>
          <a:off x="0" y="0"/>
          <a:ext cx="0" cy="0"/>
          <a:chOff x="0" y="0"/>
          <a:chExt cx="0" cy="0"/>
        </a:xfrm>
      </p:grpSpPr>
      <p:pic>
        <p:nvPicPr>
          <p:cNvPr descr="A close-up of a modern glass structure. " id="181" name="Google Shape;181;p24"/>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182" name="Google Shape;182;p24"/>
          <p:cNvSpPr txBox="1"/>
          <p:nvPr>
            <p:ph type="title"/>
          </p:nvPr>
        </p:nvSpPr>
        <p:spPr>
          <a:xfrm>
            <a:off x="87925" y="1361500"/>
            <a:ext cx="423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Kumar One"/>
                <a:ea typeface="Kumar One"/>
                <a:cs typeface="Kumar One"/>
                <a:sym typeface="Kumar One"/>
              </a:rPr>
              <a:t>Thank You!</a:t>
            </a:r>
            <a:endParaRPr>
              <a:latin typeface="Kumar One"/>
              <a:ea typeface="Kumar One"/>
              <a:cs typeface="Kumar One"/>
              <a:sym typeface="Kumar One"/>
            </a:endParaRPr>
          </a:p>
          <a:p>
            <a:pPr indent="0" lvl="0" marL="0" rtl="0" algn="l">
              <a:lnSpc>
                <a:spcPct val="115000"/>
              </a:lnSpc>
              <a:spcBef>
                <a:spcPts val="0"/>
              </a:spcBef>
              <a:spcAft>
                <a:spcPts val="0"/>
              </a:spcAft>
              <a:buNone/>
            </a:pPr>
            <a:r>
              <a:rPr b="0" lang="en" sz="1600">
                <a:latin typeface="Bruno Ace SC"/>
                <a:ea typeface="Bruno Ace SC"/>
                <a:cs typeface="Bruno Ace SC"/>
                <a:sym typeface="Bruno Ace SC"/>
              </a:rPr>
              <a:t>GitHuB Repo Link For My Code: </a:t>
            </a:r>
            <a:endParaRPr b="0" sz="1600">
              <a:latin typeface="Bruno Ace SC"/>
              <a:ea typeface="Bruno Ace SC"/>
              <a:cs typeface="Bruno Ace SC"/>
              <a:sym typeface="Bruno Ace SC"/>
            </a:endParaRPr>
          </a:p>
          <a:p>
            <a:pPr indent="0" lvl="0" marL="0" rtl="0" algn="l">
              <a:lnSpc>
                <a:spcPct val="115000"/>
              </a:lnSpc>
              <a:spcBef>
                <a:spcPts val="1200"/>
              </a:spcBef>
              <a:spcAft>
                <a:spcPts val="1200"/>
              </a:spcAft>
              <a:buNone/>
            </a:pPr>
            <a:r>
              <a:t/>
            </a:r>
            <a:endParaRPr b="0" sz="1100">
              <a:latin typeface="Bruno Ace SC"/>
              <a:ea typeface="Bruno Ace SC"/>
              <a:cs typeface="Bruno Ace SC"/>
              <a:sym typeface="Bruno Ace SC"/>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